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85" r:id="rId2"/>
    <p:sldId id="275" r:id="rId3"/>
    <p:sldId id="257" r:id="rId4"/>
    <p:sldId id="276" r:id="rId5"/>
    <p:sldId id="286" r:id="rId6"/>
    <p:sldId id="287" r:id="rId7"/>
    <p:sldId id="266" r:id="rId8"/>
    <p:sldId id="278" r:id="rId9"/>
    <p:sldId id="267" r:id="rId10"/>
    <p:sldId id="258" r:id="rId11"/>
    <p:sldId id="259" r:id="rId12"/>
    <p:sldId id="268" r:id="rId13"/>
    <p:sldId id="270" r:id="rId14"/>
    <p:sldId id="271" r:id="rId15"/>
    <p:sldId id="288" r:id="rId16"/>
    <p:sldId id="272" r:id="rId17"/>
    <p:sldId id="284" r:id="rId18"/>
    <p:sldId id="282" r:id="rId19"/>
    <p:sldId id="281" r:id="rId20"/>
    <p:sldId id="283" r:id="rId21"/>
    <p:sldId id="27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44" d="100"/>
          <a:sy n="44" d="100"/>
        </p:scale>
        <p:origin x="54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83B4F-07AE-4410-AFD3-E1505F332902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AC636-E07E-4A8F-8A83-DC9F510F2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52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AC636-E07E-4A8F-8A83-DC9F510F2DE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6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8972"/>
            <a:ext cx="9905998" cy="1023257"/>
          </a:xfrm>
        </p:spPr>
        <p:txBody>
          <a:bodyPr>
            <a:noAutofit/>
          </a:bodyPr>
          <a:lstStyle/>
          <a:p>
            <a:pPr algn="ctr"/>
            <a:r>
              <a:rPr lang="en-US" sz="8000" dirty="0"/>
              <a:t>Capstone </a:t>
            </a:r>
            <a:r>
              <a:rPr lang="en-US" sz="8000" dirty="0" smtClean="0"/>
              <a:t>Project</a:t>
            </a:r>
            <a:endParaRPr lang="en-US" sz="8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502230"/>
            <a:ext cx="9905999" cy="48768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Behavior &amp; Retention Analytics</a:t>
            </a:r>
          </a:p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</a:p>
          <a:p>
            <a:pPr>
              <a:lnSpc>
                <a:spcPct val="10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customerData.csv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KIBIDI LERENCER| 25/03/2026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Chuka University: Center for Data Analytics and Modeling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 No:  CDAM/0047/2026 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Instructor: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victor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Wandera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 smtClean="0"/>
          </a:p>
          <a:p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79669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122D09-81DC-6E24-BBA3-BBFAF610F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32347"/>
            <a:ext cx="9905998" cy="914400"/>
          </a:xfrm>
        </p:spPr>
        <p:txBody>
          <a:bodyPr/>
          <a:lstStyle/>
          <a:p>
            <a:r>
              <a:rPr lang="en-US" dirty="0"/>
              <a:t>Objectives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E230B1-68CD-CA7B-B38F-89935659B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179095"/>
            <a:ext cx="9905999" cy="53781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1.To Understand differences in customer spending and income across key groups (churn status, gender, region, marital status)</a:t>
            </a:r>
          </a:p>
          <a:p>
            <a:pPr marL="0" indent="0">
              <a:buNone/>
            </a:pPr>
            <a:r>
              <a:rPr lang="en-US" dirty="0"/>
              <a:t>2. To Identify factors influencing customer churn to improve retention strategies.</a:t>
            </a:r>
          </a:p>
          <a:p>
            <a:pPr marL="0" indent="0">
              <a:buNone/>
            </a:pPr>
            <a:r>
              <a:rPr lang="en-US" dirty="0"/>
              <a:t>3. To Analyze customer behavior and preferences (payment methods, online shopping) to enhance customer experience</a:t>
            </a:r>
          </a:p>
          <a:p>
            <a:pPr marL="0" indent="0">
              <a:buNone/>
            </a:pPr>
            <a:r>
              <a:rPr lang="en-US" dirty="0"/>
              <a:t>4. To Examine relationships between demographic factors and financial behavior for better customer segmentation</a:t>
            </a:r>
          </a:p>
          <a:p>
            <a:pPr marL="0" indent="0">
              <a:buNone/>
            </a:pPr>
            <a:r>
              <a:rPr lang="en-US" dirty="0"/>
              <a:t>5. To Provide insights to support targeted marketing and business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671831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811366-B8B5-63D0-102D-4DBB9D580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88511"/>
          </a:xfrm>
        </p:spPr>
        <p:txBody>
          <a:bodyPr/>
          <a:lstStyle/>
          <a:p>
            <a:r>
              <a:rPr lang="en-US" dirty="0"/>
              <a:t>PHASE I:DATA UNDERSTANDING &amp;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557336D-58F4-82C6-70EB-518015AA7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4142394"/>
          </a:xfrm>
        </p:spPr>
        <p:txBody>
          <a:bodyPr>
            <a:normAutofit/>
          </a:bodyPr>
          <a:lstStyle/>
          <a:p>
            <a:r>
              <a:rPr lang="en-US" dirty="0"/>
              <a:t>1.Set my working directory</a:t>
            </a:r>
          </a:p>
          <a:p>
            <a:r>
              <a:rPr lang="en-US" dirty="0"/>
              <a:t>2. Load the </a:t>
            </a:r>
            <a:r>
              <a:rPr lang="en-US" dirty="0" smtClean="0"/>
              <a:t>libraries </a:t>
            </a:r>
            <a:r>
              <a:rPr lang="en-US" dirty="0" err="1" smtClean="0"/>
              <a:t>tidyverse</a:t>
            </a:r>
            <a:r>
              <a:rPr lang="en-US" dirty="0" smtClean="0"/>
              <a:t>, </a:t>
            </a:r>
            <a:r>
              <a:rPr lang="en-US" dirty="0" err="1" smtClean="0"/>
              <a:t>dplyr</a:t>
            </a:r>
            <a:r>
              <a:rPr lang="en-US" dirty="0" smtClean="0"/>
              <a:t>, ggplot2, psych, </a:t>
            </a:r>
            <a:r>
              <a:rPr lang="en-US" dirty="0" err="1" smtClean="0"/>
              <a:t>skimr</a:t>
            </a:r>
            <a:r>
              <a:rPr lang="en-US" dirty="0" smtClean="0"/>
              <a:t>, </a:t>
            </a:r>
            <a:r>
              <a:rPr lang="en-US" dirty="0" err="1" smtClean="0"/>
              <a:t>stringr</a:t>
            </a:r>
            <a:r>
              <a:rPr lang="en-US" dirty="0" smtClean="0"/>
              <a:t>, </a:t>
            </a:r>
            <a:r>
              <a:rPr lang="en-US" dirty="0" err="1" smtClean="0"/>
              <a:t>tidyr</a:t>
            </a:r>
            <a:r>
              <a:rPr lang="en-US" dirty="0" smtClean="0"/>
              <a:t>, reshape2, </a:t>
            </a:r>
            <a:r>
              <a:rPr lang="en-US" dirty="0" err="1" smtClean="0"/>
              <a:t>car,MASS,caret,multcomp,glmnet,Ggally,Hmisc,dunn.test,glmnet</a:t>
            </a:r>
            <a:endParaRPr lang="en-US" dirty="0"/>
          </a:p>
          <a:p>
            <a:r>
              <a:rPr lang="en-US" dirty="0"/>
              <a:t>3. Load the data set…customerData.csv from my working directory, named it ‘income’</a:t>
            </a:r>
          </a:p>
          <a:p>
            <a:r>
              <a:rPr lang="en-US" dirty="0"/>
              <a:t>4. Viewed the whole data set to get an understanding of what exactly it entails </a:t>
            </a:r>
            <a:endParaRPr lang="en-US" dirty="0" smtClean="0"/>
          </a:p>
          <a:p>
            <a:r>
              <a:rPr lang="en-US" dirty="0"/>
              <a:t>15 column and 10,000 </a:t>
            </a:r>
            <a:r>
              <a:rPr lang="en-US" dirty="0" smtClean="0"/>
              <a:t>rows, 7-numerical, 8-character,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377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D2CF21-6D62-0920-8F54-648316524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17714"/>
            <a:ext cx="9905998" cy="805543"/>
          </a:xfrm>
        </p:spPr>
        <p:txBody>
          <a:bodyPr/>
          <a:lstStyle/>
          <a:p>
            <a:r>
              <a:rPr lang="en-US" dirty="0"/>
              <a:t>Dataset </a:t>
            </a:r>
            <a:r>
              <a:rPr lang="en-US" dirty="0" smtClean="0"/>
              <a:t>overview : categorical</a:t>
            </a:r>
            <a:endParaRPr lang="en-US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71" y="1110343"/>
            <a:ext cx="5377543" cy="2743200"/>
          </a:xfr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811" y="1023257"/>
            <a:ext cx="5596846" cy="274320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811" y="4114798"/>
            <a:ext cx="5596846" cy="254725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71" y="3940628"/>
            <a:ext cx="5377543" cy="272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24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48344"/>
            <a:ext cx="9905998" cy="849086"/>
          </a:xfrm>
        </p:spPr>
        <p:txBody>
          <a:bodyPr/>
          <a:lstStyle/>
          <a:p>
            <a:r>
              <a:rPr lang="en-US" dirty="0"/>
              <a:t>Dataset </a:t>
            </a:r>
            <a:r>
              <a:rPr lang="en-US" dirty="0" smtClean="0"/>
              <a:t>overview 2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85" y="962483"/>
            <a:ext cx="5355458" cy="25041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743" y="953642"/>
            <a:ext cx="5638800" cy="25129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85" y="3853544"/>
            <a:ext cx="5355458" cy="28302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743" y="3853545"/>
            <a:ext cx="5638800" cy="283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10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291946"/>
            <a:ext cx="9905998" cy="774854"/>
          </a:xfrm>
        </p:spPr>
        <p:txBody>
          <a:bodyPr/>
          <a:lstStyle/>
          <a:p>
            <a:r>
              <a:rPr lang="en-US" dirty="0"/>
              <a:t>Dataset overview </a:t>
            </a:r>
            <a:r>
              <a:rPr lang="en-US" dirty="0" smtClean="0"/>
              <a:t>: numerical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6797016"/>
              </p:ext>
            </p:extLst>
          </p:nvPr>
        </p:nvGraphicFramePr>
        <p:xfrm>
          <a:off x="740227" y="1284516"/>
          <a:ext cx="10755087" cy="49935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441"/>
                <a:gridCol w="1536441"/>
                <a:gridCol w="1720515"/>
                <a:gridCol w="1352367"/>
                <a:gridCol w="1536441"/>
                <a:gridCol w="1536441"/>
                <a:gridCol w="1536441"/>
              </a:tblGrid>
              <a:tr h="1081937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Annual income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of children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Annual spending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Credit score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loyalty years</a:t>
                      </a:r>
                    </a:p>
                  </a:txBody>
                  <a:tcPr marL="9525" marR="9525" marT="9525" marB="0" anchor="b"/>
                </a:tc>
              </a:tr>
              <a:tr h="546939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</a:tr>
              <a:tr h="546939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1st  Qu.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26621.00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8100.00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7.00</a:t>
                      </a:r>
                    </a:p>
                  </a:txBody>
                  <a:tcPr marL="9525" marR="9525" marT="9525" marB="0" anchor="b"/>
                </a:tc>
              </a:tr>
              <a:tr h="546939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42386.00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14170.00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15.00</a:t>
                      </a:r>
                    </a:p>
                  </a:txBody>
                  <a:tcPr marL="9525" marR="9525" marT="9525" marB="0" anchor="b"/>
                </a:tc>
              </a:tr>
              <a:tr h="546939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43632.00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15282.00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461.80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15.64</a:t>
                      </a:r>
                    </a:p>
                  </a:txBody>
                  <a:tcPr marL="9525" marR="9525" marT="9525" marB="0" anchor="b"/>
                </a:tc>
              </a:tr>
              <a:tr h="546939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3RD Qu.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57731.00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21134.00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502.00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23.00</a:t>
                      </a:r>
                    </a:p>
                  </a:txBody>
                  <a:tcPr marL="9525" marR="9525" marT="9525" marB="0" anchor="b"/>
                </a:tc>
              </a:tr>
              <a:tr h="1081937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</a:t>
                      </a:r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123315.00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59229.00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693.00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52.00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3586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A7AC19-FB24-D06A-ED65-DA450B7D8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Data cleaning IV.MISSING </a:t>
            </a:r>
            <a:r>
              <a:rPr lang="en-US" sz="3200" dirty="0"/>
              <a:t>VALUES,DUPLICATES, INCONSISTENCIES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5ABACFD6-7EF6-EBBE-E31F-41981ADF0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514" y="1730189"/>
            <a:ext cx="5377543" cy="48665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9E55887-91F7-1325-206E-070DDAEF0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228" y="1730189"/>
            <a:ext cx="5543082" cy="486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61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17A8B3-9FD6-E337-2F2D-5CB6F8B89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14400"/>
          </a:xfrm>
        </p:spPr>
        <p:txBody>
          <a:bodyPr/>
          <a:lstStyle/>
          <a:p>
            <a:r>
              <a:rPr lang="en-US" dirty="0"/>
              <a:t>Data cleaning </a:t>
            </a:r>
            <a:r>
              <a:rPr lang="en-US" dirty="0" err="1"/>
              <a:t>process:Outlier</a:t>
            </a:r>
            <a:r>
              <a:rPr lang="en-US" dirty="0"/>
              <a:t> treatment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AF289BC-C063-61CB-C784-DD6FB716C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216" y="1088571"/>
            <a:ext cx="10572195" cy="5290458"/>
          </a:xfrm>
        </p:spPr>
        <p:txBody>
          <a:bodyPr/>
          <a:lstStyle/>
          <a:p>
            <a:r>
              <a:rPr lang="en-US" dirty="0" smtClean="0"/>
              <a:t>Included treating outliers I choose </a:t>
            </a:r>
            <a:r>
              <a:rPr lang="en-US" dirty="0" err="1" smtClean="0"/>
              <a:t>iqr</a:t>
            </a:r>
            <a:r>
              <a:rPr lang="en-US" dirty="0" smtClean="0"/>
              <a:t> treatment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16" y="1478571"/>
            <a:ext cx="5599013" cy="25709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29" y="1478572"/>
            <a:ext cx="5312228" cy="25709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16" y="4245428"/>
            <a:ext cx="5599013" cy="25236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306" y="4245428"/>
            <a:ext cx="5144551" cy="252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316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149B77-6F5F-E879-04C7-2C511781F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DICTIONARY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xmlns="" id="{3CABCDF2-BCA4-FE32-952D-E5D16A108E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4138585"/>
              </p:ext>
            </p:extLst>
          </p:nvPr>
        </p:nvGraphicFramePr>
        <p:xfrm>
          <a:off x="1141413" y="2249488"/>
          <a:ext cx="9906000" cy="3784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xmlns="" val="2257558069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xmlns="" val="4037532789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xmlns="" val="3869472654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xmlns="" val="3602782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 dirty="0" err="1">
                          <a:effectLst/>
                        </a:rPr>
                        <a:t>customer_id</a:t>
                      </a:r>
                      <a:endParaRPr lang="en-US" sz="28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customer_id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numeric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10000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2615408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 dirty="0">
                          <a:effectLst/>
                        </a:rPr>
                        <a:t>age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age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numeric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53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701131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 dirty="0">
                          <a:effectLst/>
                        </a:rPr>
                        <a:t>gender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gender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character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2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370297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 dirty="0">
                          <a:effectLst/>
                        </a:rPr>
                        <a:t>education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education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character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5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2836362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 dirty="0" err="1">
                          <a:effectLst/>
                        </a:rPr>
                        <a:t>employment_status</a:t>
                      </a:r>
                      <a:endParaRPr lang="en-US" sz="28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 dirty="0" err="1">
                          <a:effectLst/>
                        </a:rPr>
                        <a:t>employment_status</a:t>
                      </a:r>
                      <a:endParaRPr lang="en-US" sz="28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character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4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428221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annual_income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 dirty="0" err="1">
                          <a:effectLst/>
                        </a:rPr>
                        <a:t>annual_income</a:t>
                      </a:r>
                      <a:endParaRPr lang="en-US" sz="28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numeric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9541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2858135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marital_status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 dirty="0" err="1">
                          <a:effectLst/>
                        </a:rPr>
                        <a:t>marital_status</a:t>
                      </a:r>
                      <a:endParaRPr lang="en-US" sz="28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character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2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2560015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number_of_children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 dirty="0" err="1">
                          <a:effectLst/>
                        </a:rPr>
                        <a:t>number_of_children</a:t>
                      </a:r>
                      <a:endParaRPr lang="en-US" sz="28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numeric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6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3844481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region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 dirty="0">
                          <a:effectLst/>
                        </a:rPr>
                        <a:t>region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 dirty="0">
                          <a:effectLst/>
                        </a:rPr>
                        <a:t>character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3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1443771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annual_spending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>
                          <a:effectLst/>
                        </a:rPr>
                        <a:t>annual_spending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800" dirty="0">
                          <a:effectLst/>
                        </a:rPr>
                        <a:t>numeric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800" dirty="0">
                          <a:effectLst/>
                        </a:rPr>
                        <a:t>9544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1585614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8171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753B40-7970-91F6-E52F-5BABCDD3F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91507"/>
            <a:ext cx="9905998" cy="831750"/>
          </a:xfrm>
        </p:spPr>
        <p:txBody>
          <a:bodyPr/>
          <a:lstStyle/>
          <a:p>
            <a:r>
              <a:rPr lang="en-US" sz="3200" dirty="0"/>
              <a:t>Feature Engineering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7ED04A4-F0B7-3B22-FA03-E989A489B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153" y="1023257"/>
            <a:ext cx="10428846" cy="6002382"/>
          </a:xfrm>
        </p:spPr>
        <p:txBody>
          <a:bodyPr>
            <a:normAutofit/>
          </a:bodyPr>
          <a:lstStyle/>
          <a:p>
            <a:r>
              <a:rPr lang="en-US" dirty="0" err="1"/>
              <a:t>i</a:t>
            </a:r>
            <a:r>
              <a:rPr lang="en-US" dirty="0"/>
              <a:t>. Create: • </a:t>
            </a:r>
            <a:r>
              <a:rPr lang="en-US" dirty="0" err="1"/>
              <a:t>spending_to_income_ratio</a:t>
            </a:r>
            <a:r>
              <a:rPr lang="en-US" dirty="0"/>
              <a:t> • </a:t>
            </a:r>
            <a:r>
              <a:rPr lang="en-US" dirty="0" err="1"/>
              <a:t>customer_tenure</a:t>
            </a:r>
            <a:r>
              <a:rPr lang="en-US" dirty="0"/>
              <a:t> • </a:t>
            </a:r>
            <a:r>
              <a:rPr lang="en-US" dirty="0" err="1"/>
              <a:t>financial_stability_score</a:t>
            </a:r>
            <a:endParaRPr lang="en-US" dirty="0"/>
          </a:p>
          <a:p>
            <a:r>
              <a:rPr lang="en-US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9C26B7AB-B217-8FAA-E7B0-E050F360E0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081573"/>
              </p:ext>
            </p:extLst>
          </p:nvPr>
        </p:nvGraphicFramePr>
        <p:xfrm>
          <a:off x="1598278" y="1668075"/>
          <a:ext cx="8017435" cy="4712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3487">
                  <a:extLst>
                    <a:ext uri="{9D8B030D-6E8A-4147-A177-3AD203B41FA5}">
                      <a16:colId xmlns:a16="http://schemas.microsoft.com/office/drawing/2014/main" xmlns="" val="3996599623"/>
                    </a:ext>
                  </a:extLst>
                </a:gridCol>
                <a:gridCol w="1603487">
                  <a:extLst>
                    <a:ext uri="{9D8B030D-6E8A-4147-A177-3AD203B41FA5}">
                      <a16:colId xmlns:a16="http://schemas.microsoft.com/office/drawing/2014/main" xmlns="" val="2129362883"/>
                    </a:ext>
                  </a:extLst>
                </a:gridCol>
                <a:gridCol w="1603487">
                  <a:extLst>
                    <a:ext uri="{9D8B030D-6E8A-4147-A177-3AD203B41FA5}">
                      <a16:colId xmlns:a16="http://schemas.microsoft.com/office/drawing/2014/main" xmlns="" val="7967024"/>
                    </a:ext>
                  </a:extLst>
                </a:gridCol>
                <a:gridCol w="1603487">
                  <a:extLst>
                    <a:ext uri="{9D8B030D-6E8A-4147-A177-3AD203B41FA5}">
                      <a16:colId xmlns:a16="http://schemas.microsoft.com/office/drawing/2014/main" xmlns="" val="1503520163"/>
                    </a:ext>
                  </a:extLst>
                </a:gridCol>
                <a:gridCol w="1603487">
                  <a:extLst>
                    <a:ext uri="{9D8B030D-6E8A-4147-A177-3AD203B41FA5}">
                      <a16:colId xmlns:a16="http://schemas.microsoft.com/office/drawing/2014/main" xmlns="" val="80211960"/>
                    </a:ext>
                  </a:extLst>
                </a:gridCol>
              </a:tblGrid>
              <a:tr h="112615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 dirty="0" err="1">
                          <a:effectLst/>
                        </a:rPr>
                        <a:t>pending_to_income_ratio</a:t>
                      </a:r>
                      <a:endParaRPr lang="en-US" sz="2800" dirty="0">
                        <a:effectLst/>
                      </a:endParaRPr>
                    </a:p>
                    <a:p>
                      <a:pPr algn="r">
                        <a:buNone/>
                      </a:pPr>
                      <a:r>
                        <a:rPr lang="en-US" sz="2800" b="0" dirty="0">
                          <a:effectLst/>
                        </a:rPr>
                        <a:t>&lt;</a:t>
                      </a:r>
                      <a:r>
                        <a:rPr lang="en-US" sz="2800" b="0" dirty="0" err="1">
                          <a:effectLst/>
                        </a:rPr>
                        <a:t>dbl</a:t>
                      </a:r>
                      <a:r>
                        <a:rPr lang="en-US" sz="2800" b="0" dirty="0">
                          <a:effectLst/>
                        </a:rPr>
                        <a:t>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dirty="0" err="1">
                          <a:effectLst/>
                        </a:rPr>
                        <a:t>customer_tenure_group</a:t>
                      </a:r>
                      <a:endParaRPr lang="en-US" sz="28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sz="2800" b="0" dirty="0">
                          <a:effectLst/>
                        </a:rPr>
                        <a:t>&lt;</a:t>
                      </a:r>
                      <a:r>
                        <a:rPr lang="en-US" sz="2800" b="0" dirty="0" err="1">
                          <a:effectLst/>
                        </a:rPr>
                        <a:t>chr</a:t>
                      </a:r>
                      <a:r>
                        <a:rPr lang="en-US" sz="2800" b="0" dirty="0">
                          <a:effectLst/>
                        </a:rPr>
                        <a:t>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>
                          <a:effectLst/>
                        </a:rPr>
                        <a:t>financial_stability_score</a:t>
                      </a:r>
                    </a:p>
                    <a:p>
                      <a:pPr algn="r">
                        <a:buNone/>
                      </a:pPr>
                      <a:r>
                        <a:rPr lang="en-US" sz="2800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>
                          <a:effectLst/>
                        </a:rPr>
                        <a:t>stability_level</a:t>
                      </a:r>
                    </a:p>
                    <a:p>
                      <a:pPr algn="l">
                        <a:buNone/>
                      </a:pPr>
                      <a:r>
                        <a:rPr lang="en-US" sz="2800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>
                          <a:effectLst/>
                        </a:rPr>
                        <a:t>savings</a:t>
                      </a:r>
                    </a:p>
                    <a:p>
                      <a:pPr algn="r">
                        <a:buNone/>
                      </a:pPr>
                      <a:r>
                        <a:rPr lang="en-US" sz="2800" b="0">
                          <a:effectLst/>
                        </a:rPr>
                        <a:t>&lt;int&gt;</a:t>
                      </a:r>
                    </a:p>
                  </a:txBody>
                  <a:tcPr marL="57150" marR="57150" marB="28575" anchor="ctr"/>
                </a:tc>
                <a:extLst>
                  <a:ext uri="{0D108BD9-81ED-4DB2-BD59-A6C34878D82A}">
                    <a16:rowId xmlns:a16="http://schemas.microsoft.com/office/drawing/2014/main" xmlns="" val="137603500"/>
                  </a:ext>
                </a:extLst>
              </a:tr>
              <a:tr h="325730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4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0.3795802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Long-term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0.5469411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Medium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1658747259"/>
                  </a:ext>
                </a:extLst>
              </a:tr>
              <a:tr h="325730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4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0.4174078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Long-term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0.5688464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Medium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3374609298"/>
                  </a:ext>
                </a:extLst>
              </a:tr>
              <a:tr h="325730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4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0.1949258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Long-term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0.7473847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High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82328331"/>
                  </a:ext>
                </a:extLst>
              </a:tr>
              <a:tr h="325730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40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0.9522180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New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0.2658406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Low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4174153629"/>
                  </a:ext>
                </a:extLst>
              </a:tr>
              <a:tr h="325730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40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0.6128041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Long-term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0.4274101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Medium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2045770778"/>
                  </a:ext>
                </a:extLst>
              </a:tr>
              <a:tr h="325730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40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0.3072925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Long-term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0.5855772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Medium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3718464549"/>
                  </a:ext>
                </a:extLst>
              </a:tr>
              <a:tr h="325730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40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0.3720135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New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0.5678483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Medium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814887480"/>
                  </a:ext>
                </a:extLst>
              </a:tr>
              <a:tr h="325730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240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0.3183051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Mid-term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0.4601475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Medium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1557122226"/>
                  </a:ext>
                </a:extLst>
              </a:tr>
              <a:tr h="325730"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buNone/>
                      </a:pPr>
                      <a:endParaRPr lang="en-US" sz="160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0.1984183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Long-term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0.6432275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2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Medium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xmlns="" val="3656512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100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C11949-EB1A-6E39-A444-F34795CC7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E3A332-CA66-6692-F8F3-B5AD691A6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76400"/>
            <a:ext cx="9905999" cy="461554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1. </a:t>
            </a:r>
            <a:r>
              <a:rPr lang="en-US" sz="2800" dirty="0"/>
              <a:t>% latex table generated in R 4.5.3 by </a:t>
            </a:r>
            <a:r>
              <a:rPr lang="en-US" sz="2800" dirty="0" err="1"/>
              <a:t>xtable</a:t>
            </a:r>
            <a:r>
              <a:rPr lang="en-US" sz="2800" dirty="0"/>
              <a:t> 1.8-8 package% Sun Mar 29 18:19:32 2026\begin{table}[</a:t>
            </a:r>
            <a:r>
              <a:rPr lang="en-US" sz="2800" dirty="0" err="1"/>
              <a:t>ht</a:t>
            </a:r>
            <a:r>
              <a:rPr lang="en-US" sz="2800" dirty="0"/>
              <a:t>]\centering\begin{tabular}{</a:t>
            </a:r>
            <a:r>
              <a:rPr lang="en-US" sz="2800" dirty="0" err="1"/>
              <a:t>lrrrrrr</a:t>
            </a:r>
            <a:r>
              <a:rPr lang="en-US" sz="2800" dirty="0"/>
              <a:t>}  \</a:t>
            </a:r>
            <a:r>
              <a:rPr lang="en-US" sz="2800" dirty="0" err="1"/>
              <a:t>hlineregion</a:t>
            </a:r>
            <a:r>
              <a:rPr lang="en-US" sz="2800" dirty="0"/>
              <a:t> &amp; N &amp; Mean &amp; SD &amp; Median &amp; 95% CI Lower &amp; 95% CI Upper \\   \</a:t>
            </a:r>
            <a:r>
              <a:rPr lang="en-US" sz="2800" dirty="0" err="1"/>
              <a:t>hlineRural</a:t>
            </a:r>
            <a:r>
              <a:rPr lang="en-US" sz="2800" dirty="0"/>
              <a:t> &amp; 2019 &amp; 15180.70 &amp; 9272.89 &amp; 14262.03 &amp; 14775.98 &amp; 15585.42 \\   Suburban &amp; 2980 &amp; 15544.54 &amp; 9395.60 &amp; 14312.96 &amp; 15207.06 &amp; 15882.01 \\   Urban &amp; 5001 &amp; 15060.51 &amp; 9407.99 &amp; 14039.17 &amp; 14799.71 &amp; 15321.32 \\    \</a:t>
            </a:r>
            <a:r>
              <a:rPr lang="en-US" sz="2800" dirty="0" err="1"/>
              <a:t>hline</a:t>
            </a:r>
            <a:r>
              <a:rPr lang="en-US" sz="2800" dirty="0"/>
              <a:t>\end{tabular}\caption{Table 1: Annual Spending by Region} \label{</a:t>
            </a:r>
            <a:r>
              <a:rPr lang="en-US" sz="2800" dirty="0" err="1"/>
              <a:t>tab:spending_region</a:t>
            </a:r>
            <a:r>
              <a:rPr lang="en-US" sz="2800" dirty="0"/>
              <a:t>}\</a:t>
            </a:r>
            <a:r>
              <a:rPr lang="en-US" sz="2800" dirty="0" smtClean="0"/>
              <a:t>end{table</a:t>
            </a:r>
            <a:r>
              <a:rPr lang="en-US" dirty="0" smtClean="0"/>
              <a:t>}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39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40560F-EC62-1171-5B10-935719A39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591671"/>
          </a:xfrm>
        </p:spPr>
        <p:txBody>
          <a:bodyPr/>
          <a:lstStyle/>
          <a:p>
            <a:r>
              <a:rPr lang="en-US" dirty="0"/>
              <a:t>Correlation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855E664-FC1D-5C1A-5047-876EE22A0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1201271"/>
            <a:ext cx="9904459" cy="458992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868" y="1201272"/>
            <a:ext cx="9906001" cy="518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305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135B5F-B79F-837F-D8F2-D78A77F18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09647"/>
          </a:xfrm>
        </p:spPr>
        <p:txBody>
          <a:bodyPr/>
          <a:lstStyle/>
          <a:p>
            <a:r>
              <a:rPr lang="en-US" dirty="0"/>
              <a:t>Phase 4: Descriptive Statistics &amp; Inference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A61CBF1-21BB-4153-E5D2-91AF22056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28165"/>
            <a:ext cx="9905999" cy="4563036"/>
          </a:xfrm>
        </p:spPr>
        <p:txBody>
          <a:bodyPr/>
          <a:lstStyle/>
          <a:p>
            <a:r>
              <a:rPr lang="en-US" dirty="0"/>
              <a:t>2. Confidence Intervals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57" y="1837812"/>
            <a:ext cx="9492343" cy="456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741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D56F4B-C3A4-D548-4BA4-C863F02B9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674914"/>
          </a:xfrm>
        </p:spPr>
        <p:txBody>
          <a:bodyPr/>
          <a:lstStyle/>
          <a:p>
            <a:r>
              <a:rPr lang="en-US" dirty="0"/>
              <a:t>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0E43A9-DFF9-1BCB-8A08-0AF2F1007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5" y="674914"/>
            <a:ext cx="11190514" cy="5595257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/>
              <a:t>H₀: All group means are equal</a:t>
            </a:r>
          </a:p>
          <a:p>
            <a:r>
              <a:rPr lang="en-US" sz="9600" dirty="0"/>
              <a:t>H₀:The variances of the groups are equal (homogeneous).</a:t>
            </a:r>
          </a:p>
          <a:p>
            <a:r>
              <a:rPr lang="en-US" sz="9600" dirty="0"/>
              <a:t>H0:The mean annual spending is equal across all regions.</a:t>
            </a:r>
          </a:p>
          <a:p>
            <a:r>
              <a:rPr lang="en-US" sz="9600" dirty="0"/>
              <a:t>H0:The distributions of </a:t>
            </a:r>
            <a:r>
              <a:rPr lang="en-US" sz="9600" dirty="0" err="1"/>
              <a:t>annual_spending</a:t>
            </a:r>
            <a:r>
              <a:rPr lang="en-US" sz="9600" dirty="0"/>
              <a:t> are the same for customers who churned and those who did not.</a:t>
            </a:r>
          </a:p>
          <a:p>
            <a:r>
              <a:rPr lang="en-US" sz="9600" dirty="0"/>
              <a:t>H0:The distributions of </a:t>
            </a:r>
            <a:r>
              <a:rPr lang="en-US" sz="9600" dirty="0" err="1"/>
              <a:t>annual_spending</a:t>
            </a:r>
            <a:r>
              <a:rPr lang="en-US" sz="9600" dirty="0"/>
              <a:t> are the same across all regions (Rural, Suburban, Urban).</a:t>
            </a:r>
          </a:p>
          <a:p>
            <a:r>
              <a:rPr lang="en-US" sz="9600" dirty="0"/>
              <a:t>H0:The distributions/median overall spending are the same across all regions (Rural, Suburban, Urban).</a:t>
            </a:r>
          </a:p>
          <a:p>
            <a:r>
              <a:rPr lang="en-US" sz="9600" dirty="0"/>
              <a:t>H0:The distribution (median) of annual spending is the same for males and females.</a:t>
            </a:r>
          </a:p>
          <a:p>
            <a:r>
              <a:rPr lang="en-US" sz="9600" dirty="0"/>
              <a:t>H0:Payment type is independent of the churn</a:t>
            </a:r>
          </a:p>
          <a:p>
            <a:r>
              <a:rPr lang="en-US" sz="9600" dirty="0"/>
              <a:t>H0:There is no difference in mean annual income between males and females</a:t>
            </a:r>
            <a:r>
              <a:rPr lang="en-US" sz="9600" dirty="0" smtClean="0"/>
              <a:t>.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792326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1256" y="478534"/>
            <a:ext cx="11691257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H0:There is no difference in mean annual income across all education levels.</a:t>
            </a:r>
          </a:p>
          <a:p>
            <a:r>
              <a:rPr lang="en-US" sz="2400" dirty="0"/>
              <a:t>H0:There is no relationship between number of children and annual spending.</a:t>
            </a:r>
          </a:p>
          <a:p>
            <a:r>
              <a:rPr lang="en-US" sz="2400" dirty="0"/>
              <a:t>H₀: There is no difference in mean annual income between customers with children and those without.</a:t>
            </a:r>
          </a:p>
          <a:p>
            <a:r>
              <a:rPr lang="en-US" sz="2400" dirty="0"/>
              <a:t>H₀: The proportion of single females with children = proportion of single males with children</a:t>
            </a:r>
          </a:p>
          <a:p>
            <a:r>
              <a:rPr lang="en-US" sz="2400" dirty="0"/>
              <a:t>H₀: Churn is independent of employment status-There is no association between being unemployed and </a:t>
            </a:r>
            <a:r>
              <a:rPr lang="en-US" sz="2400" dirty="0" smtClean="0"/>
              <a:t>churning</a:t>
            </a:r>
            <a:r>
              <a:rPr lang="en-US" sz="2400" dirty="0"/>
              <a:t>.</a:t>
            </a:r>
          </a:p>
          <a:p>
            <a:r>
              <a:rPr lang="en-US" sz="2400" dirty="0"/>
              <a:t>H₀ : Online shopping is independent of gender</a:t>
            </a:r>
          </a:p>
          <a:p>
            <a:r>
              <a:rPr lang="en-US" sz="2400" dirty="0"/>
              <a:t>H₀ :credit score is independent of education level</a:t>
            </a:r>
          </a:p>
          <a:p>
            <a:r>
              <a:rPr lang="en-US" sz="2400" dirty="0"/>
              <a:t>HO</a:t>
            </a:r>
            <a:r>
              <a:rPr lang="en-US" sz="2400" dirty="0" smtClean="0"/>
              <a:t>: Marital </a:t>
            </a:r>
            <a:r>
              <a:rPr lang="en-US" sz="2400" dirty="0"/>
              <a:t>status of females is independent on Educational level</a:t>
            </a:r>
          </a:p>
          <a:p>
            <a:r>
              <a:rPr lang="en-US" sz="2400" dirty="0"/>
              <a:t>HO</a:t>
            </a:r>
            <a:r>
              <a:rPr lang="en-US" sz="2400" dirty="0" smtClean="0"/>
              <a:t>: Marital </a:t>
            </a:r>
            <a:r>
              <a:rPr lang="en-US" sz="2400" dirty="0"/>
              <a:t>status of males is independent on Educational level</a:t>
            </a:r>
          </a:p>
          <a:p>
            <a:r>
              <a:rPr lang="en-US" sz="2400" dirty="0"/>
              <a:t>H0:Payment type is independent on Age</a:t>
            </a:r>
          </a:p>
          <a:p>
            <a:r>
              <a:rPr lang="en-US" sz="2400" dirty="0"/>
              <a:t>HO mean annual income of married customers is equal to those of single customers</a:t>
            </a:r>
          </a:p>
          <a:p>
            <a:r>
              <a:rPr lang="en-US" sz="2400" dirty="0"/>
              <a:t>HO mean annual spending of married customers is equal to those of single customers</a:t>
            </a:r>
          </a:p>
          <a:p>
            <a:r>
              <a:rPr lang="en-US" sz="2400" dirty="0"/>
              <a:t>H0:the mean number of children of  customers across the region is equal</a:t>
            </a:r>
          </a:p>
          <a:p>
            <a:r>
              <a:rPr lang="en-US" sz="2400" dirty="0"/>
              <a:t>H0:The payment type is independent on the level of education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001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65DADE-E4C1-1A55-B0C6-8AAFEC657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946484"/>
          </a:xfrm>
        </p:spPr>
        <p:txBody>
          <a:bodyPr/>
          <a:lstStyle/>
          <a:p>
            <a:r>
              <a:rPr lang="en-US" dirty="0"/>
              <a:t>Phase 6: Regression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163363-202B-2C2B-B49A-EADDDA098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770020"/>
            <a:ext cx="9905999" cy="58484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 </a:t>
            </a:r>
            <a:r>
              <a:rPr lang="en-US" sz="2800" b="1" dirty="0"/>
              <a:t>Simple Linear Regression: Income Explains 70% of Spending</a:t>
            </a:r>
          </a:p>
          <a:p>
            <a:r>
              <a:rPr lang="en-US" sz="2800" b="1" dirty="0"/>
              <a:t>Title:</a:t>
            </a:r>
            <a:r>
              <a:rPr lang="en-US" sz="2800" dirty="0"/>
              <a:t> </a:t>
            </a:r>
            <a:r>
              <a:rPr lang="en-US" sz="2800" i="1" dirty="0"/>
              <a:t>Simple Linear Regression: Income is the Key Driver</a:t>
            </a:r>
            <a:endParaRPr lang="en-US" sz="2800" dirty="0"/>
          </a:p>
          <a:p>
            <a:r>
              <a:rPr lang="en-US" sz="2800" b="1" dirty="0"/>
              <a:t>Key points:</a:t>
            </a:r>
            <a:endParaRPr lang="en-US" sz="2800" dirty="0"/>
          </a:p>
          <a:p>
            <a:r>
              <a:rPr lang="en-US" sz="2800" dirty="0"/>
              <a:t>Model: </a:t>
            </a:r>
            <a:r>
              <a:rPr lang="en-US" sz="2800" dirty="0" err="1"/>
              <a:t>annual_spending</a:t>
            </a:r>
            <a:r>
              <a:rPr lang="en-US" sz="2800" dirty="0"/>
              <a:t> = 551 + 0.336 × </a:t>
            </a:r>
            <a:r>
              <a:rPr lang="en-US" sz="2800" dirty="0" err="1"/>
              <a:t>annual_income</a:t>
            </a:r>
            <a:endParaRPr lang="en-US" sz="2800" dirty="0"/>
          </a:p>
          <a:p>
            <a:r>
              <a:rPr lang="en-US" sz="2800" b="1" dirty="0"/>
              <a:t>R² = 70.1%</a:t>
            </a:r>
            <a:r>
              <a:rPr lang="en-US" sz="2800" dirty="0"/>
              <a:t> → income alone explains 70% of variation in spending</a:t>
            </a:r>
          </a:p>
          <a:p>
            <a:r>
              <a:rPr lang="en-US" sz="2800" dirty="0"/>
              <a:t>For every $10,000 increase in income, spending rises by $3,364</a:t>
            </a:r>
          </a:p>
          <a:p>
            <a:r>
              <a:rPr lang="en-US" sz="2800" dirty="0"/>
              <a:t>The relationship is highly significant (p &lt; 0.001)</a:t>
            </a:r>
          </a:p>
          <a:p>
            <a:r>
              <a:rPr lang="en-US" sz="2800" b="1" dirty="0"/>
              <a:t>Plot to display:</a:t>
            </a:r>
            <a:endParaRPr lang="en-US" sz="2800" dirty="0"/>
          </a:p>
          <a:p>
            <a:r>
              <a:rPr lang="en-US" sz="2800" b="1" dirty="0"/>
              <a:t>Scatter plot</a:t>
            </a:r>
            <a:r>
              <a:rPr lang="en-US" sz="2800" dirty="0"/>
              <a:t> of </a:t>
            </a:r>
            <a:r>
              <a:rPr lang="en-US" sz="2800" dirty="0" err="1"/>
              <a:t>annual_spending</a:t>
            </a:r>
            <a:r>
              <a:rPr lang="en-US" sz="2800" dirty="0"/>
              <a:t> vs </a:t>
            </a:r>
            <a:r>
              <a:rPr lang="en-US" sz="2800" dirty="0" err="1"/>
              <a:t>annual_income</a:t>
            </a:r>
            <a:r>
              <a:rPr lang="en-US" sz="2800" dirty="0"/>
              <a:t> with the fitted regression line.</a:t>
            </a:r>
            <a:br>
              <a:rPr lang="en-US" sz="2800" dirty="0"/>
            </a:br>
            <a:r>
              <a:rPr lang="en-US" sz="2800" i="1" dirty="0"/>
              <a:t>Optionally, add a loess smooth to confirm linearity.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179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12102F-223E-4D40-D781-57DD9C31F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24589"/>
            <a:ext cx="9905998" cy="673769"/>
          </a:xfrm>
        </p:spPr>
        <p:txBody>
          <a:bodyPr/>
          <a:lstStyle/>
          <a:p>
            <a:r>
              <a:rPr lang="en-US" dirty="0"/>
              <a:t>Regression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59C58D6-E011-842B-7191-DCB2C692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898358"/>
            <a:ext cx="10633493" cy="59596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 </a:t>
            </a:r>
            <a:r>
              <a:rPr lang="en-US" i="1" dirty="0"/>
              <a:t>Multiple Regression: No Improvement Beyond Income-</a:t>
            </a:r>
            <a:r>
              <a:rPr lang="en-US" b="1" dirty="0"/>
              <a:t>Simpler is Better</a:t>
            </a:r>
            <a:endParaRPr lang="en-US" dirty="0"/>
          </a:p>
          <a:p>
            <a:r>
              <a:rPr lang="en-US" dirty="0"/>
              <a:t>Added 9 variables (credit score, loyalty, age, region, employment, online shopper) → R² increased by only </a:t>
            </a:r>
            <a:r>
              <a:rPr lang="en-US" b="1" dirty="0"/>
              <a:t>0.0002</a:t>
            </a:r>
            <a:r>
              <a:rPr lang="en-US" dirty="0"/>
              <a:t> (negligible)</a:t>
            </a:r>
          </a:p>
          <a:p>
            <a:r>
              <a:rPr lang="en-US" b="1" dirty="0"/>
              <a:t>LASSO regression</a:t>
            </a:r>
            <a:r>
              <a:rPr lang="en-US" dirty="0"/>
              <a:t> automatically dropped 8 variables; only </a:t>
            </a:r>
            <a:r>
              <a:rPr lang="en-US" dirty="0" err="1"/>
              <a:t>annual_income</a:t>
            </a:r>
            <a:r>
              <a:rPr lang="en-US" dirty="0"/>
              <a:t> and </a:t>
            </a:r>
            <a:r>
              <a:rPr lang="en-US" dirty="0" err="1"/>
              <a:t>online_shopper</a:t>
            </a:r>
            <a:r>
              <a:rPr lang="en-US" dirty="0"/>
              <a:t> remained</a:t>
            </a:r>
          </a:p>
          <a:p>
            <a:r>
              <a:rPr lang="en-US" dirty="0" err="1"/>
              <a:t>online_shopper</a:t>
            </a:r>
            <a:r>
              <a:rPr lang="en-US" dirty="0"/>
              <a:t> added only $42.54 to predicted spending, a very small effect</a:t>
            </a:r>
          </a:p>
          <a:p>
            <a:r>
              <a:rPr lang="en-US" b="1" dirty="0"/>
              <a:t>Model comparison</a:t>
            </a:r>
            <a:r>
              <a:rPr lang="en-US" dirty="0"/>
              <a:t>: All complex models have similar predictive power but use many extra predictors (violates parsimony)</a:t>
            </a:r>
          </a:p>
          <a:p>
            <a:r>
              <a:rPr lang="en-US" i="1" dirty="0"/>
              <a:t>For predicting annual spending, the simple model using only annual income is the best choice – it is accurate, interpretable, and avoids unnecessary complexity.”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396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6412"/>
            <a:ext cx="10361611" cy="613610"/>
          </a:xfrm>
        </p:spPr>
        <p:txBody>
          <a:bodyPr>
            <a:normAutofit fontScale="90000"/>
          </a:bodyPr>
          <a:lstStyle/>
          <a:p>
            <a:r>
              <a:rPr lang="en-US" dirty="0"/>
              <a:t>Customer Data Insights &amp; Business Actions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484" y="673768"/>
            <a:ext cx="10972800" cy="595563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1. Education</a:t>
            </a:r>
          </a:p>
          <a:p>
            <a:r>
              <a:rPr lang="en-US" dirty="0"/>
              <a:t>Higher education → prefer credit/debit cards</a:t>
            </a:r>
            <a:br>
              <a:rPr lang="en-US" dirty="0"/>
            </a:br>
            <a:r>
              <a:rPr lang="en-US" b="1" dirty="0"/>
              <a:t>Action:</a:t>
            </a:r>
            <a:r>
              <a:rPr lang="en-US" dirty="0"/>
              <a:t> Promote card-based loyalty programs and premium offers to educated customers. </a:t>
            </a:r>
          </a:p>
          <a:p>
            <a:r>
              <a:rPr lang="en-US" dirty="0"/>
              <a:t>Income rises with education level</a:t>
            </a:r>
            <a:br>
              <a:rPr lang="en-US" dirty="0"/>
            </a:br>
            <a:r>
              <a:rPr lang="en-US" b="1" dirty="0"/>
              <a:t>Action:</a:t>
            </a:r>
            <a:r>
              <a:rPr lang="en-US" dirty="0"/>
              <a:t> Target high-income, highly-educated customers with premium products and upselling opportunities. </a:t>
            </a:r>
          </a:p>
          <a:p>
            <a:r>
              <a:rPr lang="en-US" dirty="0"/>
              <a:t>Higher education → higher credit scores</a:t>
            </a:r>
            <a:br>
              <a:rPr lang="en-US" dirty="0"/>
            </a:br>
            <a:r>
              <a:rPr lang="en-US" b="1" dirty="0"/>
              <a:t>Action:</a:t>
            </a:r>
            <a:r>
              <a:rPr lang="en-US" dirty="0"/>
              <a:t> Segment by credit score to offer financing options and rewards; target reliable high-credit-score customers. </a:t>
            </a:r>
          </a:p>
          <a:p>
            <a:r>
              <a:rPr lang="en-US" dirty="0"/>
              <a:t>Education level does </a:t>
            </a:r>
            <a:r>
              <a:rPr lang="en-US" b="1" dirty="0"/>
              <a:t>not</a:t>
            </a:r>
            <a:r>
              <a:rPr lang="en-US" dirty="0"/>
              <a:t> predict marital status (for males or females)</a:t>
            </a:r>
            <a:br>
              <a:rPr lang="en-US" dirty="0"/>
            </a:br>
            <a:r>
              <a:rPr lang="en-US" b="1" dirty="0"/>
              <a:t>Action:</a:t>
            </a:r>
            <a:r>
              <a:rPr lang="en-US" dirty="0"/>
              <a:t> Avoid using education to assume marital patterns; focus on income and spending behavior instead.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857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0474"/>
            <a:ext cx="939666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</a:t>
            </a:r>
            <a:r>
              <a:rPr lang="en-US" sz="2400" b="1" dirty="0"/>
              <a:t>. Spending &amp; Churn</a:t>
            </a:r>
          </a:p>
          <a:p>
            <a:r>
              <a:rPr lang="en-US" sz="2400" dirty="0"/>
              <a:t>Customers who did not churn spend more annually than churners</a:t>
            </a:r>
            <a:br>
              <a:rPr lang="en-US" sz="2400" dirty="0"/>
            </a:br>
            <a:r>
              <a:rPr lang="en-US" sz="2400" b="1" dirty="0"/>
              <a:t>Action:</a:t>
            </a:r>
            <a:r>
              <a:rPr lang="en-US" sz="2400" dirty="0"/>
              <a:t> Identify low-spending customers as at-risk; provide targeted promotions or engagement campaigns. </a:t>
            </a:r>
          </a:p>
          <a:p>
            <a:endParaRPr lang="en-US" sz="2400" dirty="0"/>
          </a:p>
          <a:p>
            <a:r>
              <a:rPr lang="en-US" sz="2400" dirty="0"/>
              <a:t>Payment type is </a:t>
            </a:r>
            <a:r>
              <a:rPr lang="en-US" sz="2400" b="1" dirty="0"/>
              <a:t>not</a:t>
            </a:r>
            <a:r>
              <a:rPr lang="en-US" sz="2400" dirty="0"/>
              <a:t> associated with churn</a:t>
            </a:r>
            <a:br>
              <a:rPr lang="en-US" sz="2400" dirty="0"/>
            </a:br>
            <a:r>
              <a:rPr lang="en-US" sz="2400" b="1" dirty="0"/>
              <a:t>Action:</a:t>
            </a:r>
            <a:r>
              <a:rPr lang="en-US" sz="2400" dirty="0"/>
              <a:t> Focus retention strategies on spending behavior, engagement, and employment status rather than payment method. </a:t>
            </a:r>
          </a:p>
          <a:p>
            <a:endParaRPr lang="en-US" sz="2400" dirty="0"/>
          </a:p>
          <a:p>
            <a:r>
              <a:rPr lang="en-US" sz="2400" dirty="0"/>
              <a:t>Number of children does </a:t>
            </a:r>
            <a:r>
              <a:rPr lang="en-US" sz="2400" b="1" dirty="0"/>
              <a:t>not</a:t>
            </a:r>
            <a:r>
              <a:rPr lang="en-US" sz="2400" dirty="0"/>
              <a:t> affect annual spending</a:t>
            </a:r>
            <a:br>
              <a:rPr lang="en-US" sz="2400" dirty="0"/>
            </a:br>
            <a:r>
              <a:rPr lang="en-US" sz="2400" b="1" dirty="0"/>
              <a:t>Action:</a:t>
            </a:r>
            <a:r>
              <a:rPr lang="en-US" sz="2400" dirty="0"/>
              <a:t> Avoid segmenting offers based solely on family size; focus on actual spending patterns. </a:t>
            </a:r>
          </a:p>
          <a:p>
            <a:endParaRPr lang="en-US" sz="2400" dirty="0"/>
          </a:p>
          <a:p>
            <a:r>
              <a:rPr lang="en-US" sz="2400" dirty="0"/>
              <a:t>Annual spending is roughly similar across regions</a:t>
            </a:r>
            <a:br>
              <a:rPr lang="en-US" sz="2400" dirty="0"/>
            </a:br>
            <a:r>
              <a:rPr lang="en-US" sz="2400" b="1" dirty="0"/>
              <a:t>Action:</a:t>
            </a:r>
            <a:r>
              <a:rPr lang="en-US" sz="2400" dirty="0"/>
              <a:t> Regional campaigns can be uniform; prioritize high-potential customers instead. </a:t>
            </a:r>
          </a:p>
        </p:txBody>
      </p:sp>
    </p:spTree>
    <p:extLst>
      <p:ext uri="{BB962C8B-B14F-4D97-AF65-F5344CB8AC3E}">
        <p14:creationId xmlns:p14="http://schemas.microsoft.com/office/powerpoint/2010/main" val="2739107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503947" y="312821"/>
            <a:ext cx="909587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3. Employment &amp; Churn</a:t>
            </a:r>
          </a:p>
          <a:p>
            <a:r>
              <a:rPr lang="en-US" sz="2000" dirty="0"/>
              <a:t>Unemployed customers are more likely to churn</a:t>
            </a:r>
          </a:p>
          <a:p>
            <a:r>
              <a:rPr lang="en-US" sz="2000" dirty="0"/>
              <a:t>Action: Offer flexible payment options or value-based promotions to retain unemployed or financially vulnerable customers.</a:t>
            </a:r>
          </a:p>
          <a:p>
            <a:endParaRPr lang="en-US" sz="2000" dirty="0"/>
          </a:p>
          <a:p>
            <a:r>
              <a:rPr lang="en-US" sz="2000" dirty="0"/>
              <a:t>4. Income &amp; Credit</a:t>
            </a:r>
          </a:p>
          <a:p>
            <a:r>
              <a:rPr lang="en-US" sz="2000" dirty="0"/>
              <a:t>Gender does not significantly influence spending, income, or online shopping</a:t>
            </a:r>
          </a:p>
          <a:p>
            <a:r>
              <a:rPr lang="en-US" sz="2000" dirty="0"/>
              <a:t>Action: Avoid gender-based targeting; use behavioral and demographic factors instead.</a:t>
            </a:r>
          </a:p>
          <a:p>
            <a:r>
              <a:rPr lang="en-US" sz="2000" dirty="0"/>
              <a:t>Marital status does not affect spending or income</a:t>
            </a:r>
          </a:p>
          <a:p>
            <a:r>
              <a:rPr lang="en-US" sz="2000" dirty="0"/>
              <a:t>Action: Target offers based on behavior, income, and education rather than marital status.</a:t>
            </a:r>
          </a:p>
          <a:p>
            <a:endParaRPr lang="en-US" sz="2000" dirty="0"/>
          </a:p>
          <a:p>
            <a:r>
              <a:rPr lang="en-US" sz="2000" dirty="0"/>
              <a:t>5. Payment Behavior</a:t>
            </a:r>
          </a:p>
          <a:p>
            <a:r>
              <a:rPr lang="en-US" sz="2000" dirty="0"/>
              <a:t>Age does not influence payment method choice</a:t>
            </a:r>
          </a:p>
          <a:p>
            <a:r>
              <a:rPr lang="en-US" sz="2000" dirty="0"/>
              <a:t>Action: Offer all payment methods universally; don’t assume older customers prefer cash.</a:t>
            </a:r>
          </a:p>
        </p:txBody>
      </p:sp>
    </p:spTree>
    <p:extLst>
      <p:ext uri="{BB962C8B-B14F-4D97-AF65-F5344CB8AC3E}">
        <p14:creationId xmlns:p14="http://schemas.microsoft.com/office/powerpoint/2010/main" val="565713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488387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648326"/>
            <a:ext cx="9905999" cy="4716379"/>
          </a:xfrm>
        </p:spPr>
        <p:txBody>
          <a:bodyPr>
            <a:normAutofit/>
          </a:bodyPr>
          <a:lstStyle/>
          <a:p>
            <a:r>
              <a:rPr lang="en-US" dirty="0"/>
              <a:t>Focus retention efforts on </a:t>
            </a:r>
            <a:r>
              <a:rPr lang="en-US" b="1" dirty="0"/>
              <a:t>low-spending and unemployed customers</a:t>
            </a:r>
            <a:r>
              <a:rPr lang="en-US" dirty="0"/>
              <a:t>. </a:t>
            </a:r>
          </a:p>
          <a:p>
            <a:r>
              <a:rPr lang="en-US" b="1" dirty="0"/>
              <a:t>Highly-educated, high-income customers</a:t>
            </a:r>
            <a:r>
              <a:rPr lang="en-US" dirty="0"/>
              <a:t> are key for upselling and loyalty programs. </a:t>
            </a:r>
          </a:p>
          <a:p>
            <a:r>
              <a:rPr lang="en-US" b="1" dirty="0"/>
              <a:t>Behavioral patterns</a:t>
            </a:r>
            <a:r>
              <a:rPr lang="en-US" dirty="0"/>
              <a:t> matter more than gender, marital status, region, or age for targeting campaigns. </a:t>
            </a:r>
          </a:p>
          <a:p>
            <a:r>
              <a:rPr lang="en-US" dirty="0"/>
              <a:t>Use </a:t>
            </a:r>
            <a:r>
              <a:rPr lang="en-US" b="1" dirty="0"/>
              <a:t>data-driven segmentation</a:t>
            </a:r>
            <a:r>
              <a:rPr lang="en-US" dirty="0"/>
              <a:t> based on spending, education, and credit scores to reduce churn and increase revenue.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9273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{37C0A682-253A-4321-8252-59A894E1056D}TF6d5feb1e-e145-43f1-b745-cb4b54c5ee975d365c52-ce22229b0e48</Template>
  <TotalTime>330</TotalTime>
  <Words>1027</Words>
  <Application>Microsoft Office PowerPoint</Application>
  <PresentationFormat>Widescreen</PresentationFormat>
  <Paragraphs>247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Lucida Console</vt:lpstr>
      <vt:lpstr>Times New Roman</vt:lpstr>
      <vt:lpstr>Trebuchet MS</vt:lpstr>
      <vt:lpstr>Tw Cen MT</vt:lpstr>
      <vt:lpstr>Circuit</vt:lpstr>
      <vt:lpstr>Capstone Project</vt:lpstr>
      <vt:lpstr>Objectives of the study</vt:lpstr>
      <vt:lpstr>PHASE I:DATA UNDERSTANDING &amp; CLEANING</vt:lpstr>
      <vt:lpstr>Dataset overview : categorical</vt:lpstr>
      <vt:lpstr>Dataset overview 2</vt:lpstr>
      <vt:lpstr>Dataset overview : numerical</vt:lpstr>
      <vt:lpstr>Data cleaning IV.MISSING VALUES,DUPLICATES, INCONSISTENCIES</vt:lpstr>
      <vt:lpstr>Data cleaning process:Outlier treatment</vt:lpstr>
      <vt:lpstr>DATA DICTIONARY</vt:lpstr>
      <vt:lpstr>Feature Engineering</vt:lpstr>
      <vt:lpstr>Exploratory Data Analysis </vt:lpstr>
      <vt:lpstr>Correlation analysis</vt:lpstr>
      <vt:lpstr>Phase 4: Descriptive Statistics &amp; Inference </vt:lpstr>
      <vt:lpstr>Hypothesis Testing</vt:lpstr>
      <vt:lpstr>PowerPoint Presentation</vt:lpstr>
      <vt:lpstr>Phase 6: Regression Modeling</vt:lpstr>
      <vt:lpstr>Regression Modeling</vt:lpstr>
      <vt:lpstr>Customer Data Insights &amp; Business Actions 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Project: Customer Behavior &amp; Retention Analytics</dc:title>
  <dc:creator>ADMIN</dc:creator>
  <cp:lastModifiedBy>optimalfamilylimited@gmail.com</cp:lastModifiedBy>
  <cp:revision>20</cp:revision>
  <dcterms:created xsi:type="dcterms:W3CDTF">2026-03-26T06:38:55Z</dcterms:created>
  <dcterms:modified xsi:type="dcterms:W3CDTF">2026-03-29T15:23:37Z</dcterms:modified>
</cp:coreProperties>
</file>